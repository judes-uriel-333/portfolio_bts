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7a5fb76edd478f" /><Relationship Type="http://schemas.openxmlformats.org/officeDocument/2006/relationships/extended-properties" Target="/docProps/app.xml" Id="R5565a65c6a934814" /><Relationship Type="http://schemas.openxmlformats.org/officeDocument/2006/relationships/officeDocument" Target="/ppt/presentation.xml" Id="R04e099e4f08b40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d77bf33733483b"/>
  </p:sldMasterIdLst>
  <p:notesMasterIdLst>
    <p:notesMasterId xmlns:r="http://schemas.openxmlformats.org/officeDocument/2006/relationships" r:id="Rc225a885cfe34384"/>
  </p:notesMasterIdLst>
  <p:sldIdLst>
    <p:sldId xmlns:r="http://schemas.openxmlformats.org/officeDocument/2006/relationships" id="256" r:id="R645be055c6fb4716"/>
    <p:sldId xmlns:r="http://schemas.openxmlformats.org/officeDocument/2006/relationships" id="257" r:id="R6d8562fe84444791"/>
    <p:sldId xmlns:r="http://schemas.openxmlformats.org/officeDocument/2006/relationships" id="258" r:id="Rc6a7d1f4f9f04e2d"/>
    <p:sldId xmlns:r="http://schemas.openxmlformats.org/officeDocument/2006/relationships" id="259" r:id="Raaf702d749604e7b"/>
    <p:sldId xmlns:r="http://schemas.openxmlformats.org/officeDocument/2006/relationships" id="260" r:id="Re029ecda4cf84ef0"/>
    <p:sldId xmlns:r="http://schemas.openxmlformats.org/officeDocument/2006/relationships" id="261" r:id="R81821f18aa844226"/>
    <p:sldId xmlns:r="http://schemas.openxmlformats.org/officeDocument/2006/relationships" id="262" r:id="R5d3cf90408654ecc"/>
    <p:sldId xmlns:r="http://schemas.openxmlformats.org/officeDocument/2006/relationships" id="263" r:id="R1e8a5f6db53f4f0e"/>
    <p:sldId xmlns:r="http://schemas.openxmlformats.org/officeDocument/2006/relationships" id="264" r:id="R70589976e83641d5"/>
    <p:sldId xmlns:r="http://schemas.openxmlformats.org/officeDocument/2006/relationships" id="265" r:id="Rc19c2da7f33d4fc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d77bf33733483b" /><Relationship Type="http://schemas.openxmlformats.org/officeDocument/2006/relationships/theme" Target="/ppt/theme/theme1.xml" Id="R29046f3140ea4c6a" /><Relationship Type="http://schemas.openxmlformats.org/officeDocument/2006/relationships/notesMaster" Target="/ppt/notesMasters/notesMaster1.xml" Id="Rc225a885cfe34384" /><Relationship Type="http://schemas.openxmlformats.org/officeDocument/2006/relationships/presProps" Target="/ppt/presProps.xml" Id="Re53af79ba61541b1" /><Relationship Type="http://schemas.openxmlformats.org/officeDocument/2006/relationships/viewProps" Target="/ppt/viewProps.xml" Id="R0b267a78051648c3" /><Relationship Type="http://schemas.openxmlformats.org/officeDocument/2006/relationships/tableStyles" Target="/ppt/tableStyles.xml" Id="Rc9dea3c8b20943b9" /><Relationship Type="http://schemas.openxmlformats.org/officeDocument/2006/relationships/slide" Target="/ppt/slides/slide1.xml" Id="R645be055c6fb4716" /><Relationship Type="http://schemas.openxmlformats.org/officeDocument/2006/relationships/slide" Target="/ppt/slides/slide2.xml" Id="R6d8562fe84444791" /><Relationship Type="http://schemas.openxmlformats.org/officeDocument/2006/relationships/slide" Target="/ppt/slides/slide3.xml" Id="Rc6a7d1f4f9f04e2d" /><Relationship Type="http://schemas.openxmlformats.org/officeDocument/2006/relationships/slide" Target="/ppt/slides/slide4.xml" Id="Raaf702d749604e7b" /><Relationship Type="http://schemas.openxmlformats.org/officeDocument/2006/relationships/slide" Target="/ppt/slides/slide5.xml" Id="Re029ecda4cf84ef0" /><Relationship Type="http://schemas.openxmlformats.org/officeDocument/2006/relationships/slide" Target="/ppt/slides/slide6.xml" Id="R81821f18aa844226" /><Relationship Type="http://schemas.openxmlformats.org/officeDocument/2006/relationships/slide" Target="/ppt/slides/slide7.xml" Id="R5d3cf90408654ecc" /><Relationship Type="http://schemas.openxmlformats.org/officeDocument/2006/relationships/slide" Target="/ppt/slides/slide8.xml" Id="R1e8a5f6db53f4f0e" /><Relationship Type="http://schemas.openxmlformats.org/officeDocument/2006/relationships/slide" Target="/ppt/slides/slide9.xml" Id="R70589976e83641d5" /><Relationship Type="http://schemas.openxmlformats.org/officeDocument/2006/relationships/slide" Target="/ppt/slides/slide10.xml" Id="Rc19c2da7f33d4f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c4ac5817ee84e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edd90841d54bdd" /><Relationship Type="http://schemas.openxmlformats.org/officeDocument/2006/relationships/notesMaster" Target="/ppt/notesMasters/notesMaster1.xml" Id="R4da2d64699d442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ab9e8e6cd34994" /><Relationship Type="http://schemas.openxmlformats.org/officeDocument/2006/relationships/notesMaster" Target="/ppt/notesMasters/notesMaster1.xml" Id="R4dad4918ff7d47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9ced69d5d44b27" /><Relationship Type="http://schemas.openxmlformats.org/officeDocument/2006/relationships/notesMaster" Target="/ppt/notesMasters/notesMaster1.xml" Id="Ra7c15f3afcf04e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2eadd1139c40cf" /><Relationship Type="http://schemas.openxmlformats.org/officeDocument/2006/relationships/notesMaster" Target="/ppt/notesMasters/notesMaster1.xml" Id="R7d28459ca10540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7bd367546443c1" /><Relationship Type="http://schemas.openxmlformats.org/officeDocument/2006/relationships/notesMaster" Target="/ppt/notesMasters/notesMaster1.xml" Id="Rfa26a731372241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ff60b6072d478a" /><Relationship Type="http://schemas.openxmlformats.org/officeDocument/2006/relationships/notesMaster" Target="/ppt/notesMasters/notesMaster1.xml" Id="R750206b0ef9f41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4dac55e5974cad" /><Relationship Type="http://schemas.openxmlformats.org/officeDocument/2006/relationships/notesMaster" Target="/ppt/notesMasters/notesMaster1.xml" Id="Rd242880d341646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0239a393fc44d8" /><Relationship Type="http://schemas.openxmlformats.org/officeDocument/2006/relationships/notesMaster" Target="/ppt/notesMasters/notesMaster1.xml" Id="R974f580134ce48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9f898a28564208" /><Relationship Type="http://schemas.openxmlformats.org/officeDocument/2006/relationships/notesMaster" Target="/ppt/notesMasters/notesMaster1.xml" Id="Rc29f1a2eab2047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1605151b994d3b" /><Relationship Type="http://schemas.openxmlformats.org/officeDocument/2006/relationships/notesMaster" Target="/ppt/notesMasters/notesMaster1.xml" Id="R34076d96319d41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d4a7f26804bd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e72fef1aef74d40" /><Relationship Type="http://schemas.openxmlformats.org/officeDocument/2006/relationships/slideLayout" Target="/ppt/slideLayouts/slideLayout2.xml" Id="R9cf3c0813fdf4a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f3c0813fdf4a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25676e21a24a0d" /><Relationship Type="http://schemas.openxmlformats.org/officeDocument/2006/relationships/notesSlide" Target="/ppt/notesSlides/notesSlide1.xml" Id="Ref51934c008a4c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49f34e74a84a15" /><Relationship Type="http://schemas.openxmlformats.org/officeDocument/2006/relationships/notesSlide" Target="/ppt/notesSlides/notesSlide2.xml" Id="Rd5be3487ff5d43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534f8e4f4940a3" /><Relationship Type="http://schemas.openxmlformats.org/officeDocument/2006/relationships/notesSlide" Target="/ppt/notesSlides/notesSlide3.xml" Id="R79f5eb53e40844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de5a04a9f44e55" /><Relationship Type="http://schemas.openxmlformats.org/officeDocument/2006/relationships/notesSlide" Target="/ppt/notesSlides/notesSlide4.xml" Id="R0751f250845a49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21a1b2f5bb40ac" /><Relationship Type="http://schemas.openxmlformats.org/officeDocument/2006/relationships/notesSlide" Target="/ppt/notesSlides/notesSlide5.xml" Id="Rfd61c4e45cb648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7e66f30a5f4af6" /><Relationship Type="http://schemas.openxmlformats.org/officeDocument/2006/relationships/notesSlide" Target="/ppt/notesSlides/notesSlide6.xml" Id="Rc7e1fc542c6d41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2c933b3ced412e" /><Relationship Type="http://schemas.openxmlformats.org/officeDocument/2006/relationships/notesSlide" Target="/ppt/notesSlides/notesSlide7.xml" Id="Rb49cb640ac1d47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d6bb5c156e4b98" /><Relationship Type="http://schemas.openxmlformats.org/officeDocument/2006/relationships/notesSlide" Target="/ppt/notesSlides/notesSlide8.xml" Id="R1fbd94dfa7544d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84346c943847d6" /><Relationship Type="http://schemas.openxmlformats.org/officeDocument/2006/relationships/notesSlide" Target="/ppt/notesSlides/notesSlide9.xml" Id="R955c19e4f80346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6ed3cfedb54b64" /><Relationship Type="http://schemas.openxmlformats.org/officeDocument/2006/relationships/notesSlide" Target="/ppt/notesSlides/notesSlide10.xml" Id="Rde29527ee6014b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top-rule">
            <a:extLst xmlns:a="http://schemas.openxmlformats.org/drawingml/2006/main">
              <a:ext uri="{FF2B5EF4-FFF2-40B4-BE49-F238E27FC236}">
                <a16:creationId xmlns:a16="http://schemas.microsoft.com/office/drawing/2014/main" id="{34F35BAD-EF42-49E3-926C-4BF93A1D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1E293B"/>
            </a:solidFill>
            <a:prstDash val="solid"/>
          </a:ln>
        </p:spPr>
      </p:sp>
      <p:sp>
        <p:nvSpPr>
          <p:cNvPr id="2" name="cover-side-accent">
            <a:extLst xmlns:a="http://schemas.openxmlformats.org/drawingml/2006/main">
              <a:ext uri="{FF2B5EF4-FFF2-40B4-BE49-F238E27FC236}">
                <a16:creationId xmlns:a16="http://schemas.microsoft.com/office/drawing/2014/main" id="{69F54D7D-CCC4-4461-9C64-A032C110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DE27DA1-5FF7-454A-B098-CA732F57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66950"/>
            <a:ext cx="1577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891B2"/>
                </a:solidFill>
                <a:latin typeface="Cascadia Code"/>
                <a:ea typeface="Cascadia Code"/>
                <a:cs typeface="Cascadia Code"/>
              </a:defRPr>
            </a:pPr>
            <a:r>
              <a:rPr sz="1650" b="1" i="0">
                <a:solidFill>
                  <a:srgbClr val="0891B2"/>
                </a:solidFill>
                <a:latin typeface="Cascadia Code"/>
                <a:ea typeface="Cascadia Code"/>
                <a:cs typeface="Cascadia Code"/>
              </a:rPr>
              <a:t>Support de suivi pour le jury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5F396F7-0C4D-457A-8014-D62611EB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5962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60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defRPr>
            </a:pPr>
            <a:r>
              <a:rPr sz="660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rPr>
              <a:t>Présentation E5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660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defRPr>
            </a:pPr>
            <a:r>
              <a:rPr sz="660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rPr>
              <a:t>BTS SIO SLAM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4A928618-B56A-4D98-88F8-656DF308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6" name="cover-identity">
            <a:extLst xmlns:a="http://schemas.openxmlformats.org/drawingml/2006/main">
              <a:ext uri="{FF2B5EF4-FFF2-40B4-BE49-F238E27FC236}">
                <a16:creationId xmlns:a16="http://schemas.microsoft.com/office/drawing/2014/main" id="{3ED271F6-DA98-4005-A320-9DB5F110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19800"/>
            <a:ext cx="43243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25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Angoran Moyé Judes-Uriel Stéphanas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25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Institut F2I - Session 2026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BFA88BA-48BB-4893-8986-580C2A6F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124950"/>
            <a:ext cx="5543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Support jury - Épreuve E5 | Angoran Moyé Judes-Uriel Stéphanas</a:t>
            </a:r>
          </a:p>
        </p:txBody>
      </p:sp>
      <p:sp>
        <p:nvSpPr>
          <p:cNvPr id="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023EC2A-6236-45A1-965E-F58464E6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0" y="9124950"/>
            <a:ext cx="62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16308908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nt-accent-side">
            <a:extLst xmlns:a="http://schemas.openxmlformats.org/drawingml/2006/main">
              <a:ext uri="{FF2B5EF4-FFF2-40B4-BE49-F238E27FC236}">
                <a16:creationId xmlns:a16="http://schemas.microsoft.com/office/drawing/2014/main" id="{FDC9F5E3-8B4E-4B4E-8658-16EC62BE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" name="print-top-rule">
            <a:extLst xmlns:a="http://schemas.openxmlformats.org/drawingml/2006/main">
              <a:ext uri="{FF2B5EF4-FFF2-40B4-BE49-F238E27FC236}">
                <a16:creationId xmlns:a16="http://schemas.microsoft.com/office/drawing/2014/main" id="{5E8508DF-F170-41AF-BD54-C308DFEA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1E293B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A1DC1FC-639A-4AF1-93A0-74F967CE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7700"/>
            <a:ext cx="1619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91B2"/>
                </a:solidFill>
                <a:latin typeface="Cascadia Code"/>
                <a:ea typeface="Cascadia Code"/>
                <a:cs typeface="Cascadia Code"/>
              </a:defRPr>
            </a:pPr>
            <a:r>
              <a:rPr sz="1350" b="1" i="0">
                <a:solidFill>
                  <a:srgbClr val="0891B2"/>
                </a:solidFill>
                <a:latin typeface="Cascadia Code"/>
                <a:ea typeface="Cascadia Code"/>
                <a:cs typeface="Cascadia Code"/>
              </a:rPr>
              <a:t>Présentation E5 - BTS SIO SLAM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207CE8-9224-4133-9D34-0C2D23E7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09650"/>
            <a:ext cx="16192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35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defRPr>
            </a:pPr>
            <a:r>
              <a:rPr sz="435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rPr>
              <a:t>Fil conducteur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34418F6-B1CB-49D1-9E6A-62740D0D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7829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Une lecture simple du parcours : bases, projets, professionnalisation, orientation.</a:t>
            </a:r>
          </a:p>
        </p:txBody>
      </p:sp>
      <p:sp>
        <p:nvSpPr>
          <p:cNvPr id="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DFE84FA5-1F56-451C-8CAA-3868BCDA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49B2389E-8257-4E0E-8F2D-82DAB310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43400"/>
            <a:ext cx="15887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700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Profil personnel et manière de progresser</a:t>
            </a:r>
          </a:p>
        </p:txBody>
      </p:sp>
      <p:sp>
        <p:nvSpPr>
          <p:cNvPr id="8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E55D9401-344D-4DAA-9706-0777561B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4584884D-3A35-4FF1-B20D-7DD83898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0150"/>
            <a:ext cx="15887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700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Parcours scolaire et méthode de travail</a:t>
            </a:r>
          </a:p>
        </p:txBody>
      </p:sp>
      <p:sp>
        <p:nvSpPr>
          <p:cNvPr id="10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0D2B184A-FFA8-4854-A435-D5E6F835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5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08AF4F6C-0CDF-4E49-8F3E-6DF6FF85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57850"/>
            <a:ext cx="15887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700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Stages, projets et compétences mobilisées</a:t>
            </a:r>
          </a:p>
        </p:txBody>
      </p:sp>
      <p:sp>
        <p:nvSpPr>
          <p:cNvPr id="12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9226F324-DA7E-49F5-9C11-93BAF6A4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05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38DEAEB7-A4DF-42A3-9FC0-BAD95838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305550"/>
            <a:ext cx="15887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700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Certifications, veille technologique et suite du parcours</a:t>
            </a:r>
          </a:p>
        </p:txBody>
      </p:sp>
      <p:sp>
        <p:nvSpPr>
          <p:cNvPr id="14" name="flow-bottom-note">
            <a:extLst xmlns:a="http://schemas.openxmlformats.org/drawingml/2006/main">
              <a:ext uri="{FF2B5EF4-FFF2-40B4-BE49-F238E27FC236}">
                <a16:creationId xmlns:a16="http://schemas.microsoft.com/office/drawing/2014/main" id="{459DFC5D-78E4-495B-9BDE-53B007C0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48500"/>
            <a:ext cx="6076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100" b="0" i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100" b="0" i="1">
                <a:solidFill>
                  <a:srgbClr val="64748B"/>
                </a:solidFill>
                <a:latin typeface="Aptos"/>
                <a:ea typeface="Aptos"/>
                <a:cs typeface="Aptos"/>
              </a:rPr>
              <a:t>Objectif : mettre en évidence une progression cohérente.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A705ADE-22AB-4DF2-ADCB-7E8E2F26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258300"/>
            <a:ext cx="5543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Support jury - Épreuve E5 | Angoran Moyé Judes-Uriel Stéphanas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7954FF0-0766-4FE1-9551-5B5BC908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9258300"/>
            <a:ext cx="62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02 / 10</a:t>
            </a:r>
          </a:p>
        </p:txBody>
      </p:sp>
    </p:spTree>
    <p:extLst>
      <p:ext uri="{BB962C8B-B14F-4D97-AF65-F5344CB8AC3E}">
        <p14:creationId xmlns:p14="http://schemas.microsoft.com/office/powerpoint/2010/main" val="1613347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nt-accent-side">
            <a:extLst xmlns:a="http://schemas.openxmlformats.org/drawingml/2006/main">
              <a:ext uri="{FF2B5EF4-FFF2-40B4-BE49-F238E27FC236}">
                <a16:creationId xmlns:a16="http://schemas.microsoft.com/office/drawing/2014/main" id="{52786796-D22E-4633-B95F-64272FAF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2" name="print-top-rule">
            <a:extLst xmlns:a="http://schemas.openxmlformats.org/drawingml/2006/main">
              <a:ext uri="{FF2B5EF4-FFF2-40B4-BE49-F238E27FC236}">
                <a16:creationId xmlns:a16="http://schemas.microsoft.com/office/drawing/2014/main" id="{58C79873-8C5C-446E-B2E5-FBF575FF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1E293B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07EFAF0-0967-448B-912B-C9C1A8C0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7700"/>
            <a:ext cx="1619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47857"/>
                </a:solidFill>
                <a:latin typeface="Cascadia Code"/>
                <a:ea typeface="Cascadia Code"/>
                <a:cs typeface="Cascadia Code"/>
              </a:defRPr>
            </a:pPr>
            <a:r>
              <a:rPr sz="1350" b="1" i="0">
                <a:solidFill>
                  <a:srgbClr val="047857"/>
                </a:solidFill>
                <a:latin typeface="Cascadia Code"/>
                <a:ea typeface="Cascadia Code"/>
                <a:cs typeface="Cascadia Code"/>
              </a:rPr>
              <a:t>Présentation E5 - BTS SIO SLAM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8BD96F-873F-4AF3-AEB6-96483441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09650"/>
            <a:ext cx="16192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35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defRPr>
            </a:pPr>
            <a:r>
              <a:rPr sz="435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rPr>
              <a:t>Profil personnel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E7BD6AB-5864-4138-9FF5-53306621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7600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Un profil en construction sérieuse, centré sur la compréhension et la structure.</a:t>
            </a:r>
          </a:p>
        </p:txBody>
      </p:sp>
      <p:sp>
        <p:nvSpPr>
          <p:cNvPr id="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98460BD5-1D6F-46CA-B2BC-19DCFFB8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F61DE412-0C1C-43A3-8A11-92BFA38F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76500"/>
            <a:ext cx="1588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62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Comprendre les fondations avant d’aller vers des sujets plus complexes</a:t>
            </a:r>
          </a:p>
        </p:txBody>
      </p:sp>
      <p:sp>
        <p:nvSpPr>
          <p:cNvPr id="8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82F00363-F463-4D9B-B78C-385F7D62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1DA853C6-3131-4A3A-82EA-F52A0C98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1588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62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Relier besoin, code, données et maintenabilité</a:t>
            </a:r>
          </a:p>
        </p:txBody>
      </p:sp>
      <p:sp>
        <p:nvSpPr>
          <p:cNvPr id="10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123AF231-F252-4774-BBEB-3B5716B7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03F25FBD-EF70-437A-BF0B-E931F14E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52850"/>
            <a:ext cx="1588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62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Construire des solutions utiles, lisibles et évolutives</a:t>
            </a:r>
          </a:p>
        </p:txBody>
      </p:sp>
      <p:sp>
        <p:nvSpPr>
          <p:cNvPr id="12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0FCFCBFE-A049-4E1C-B146-0C834B2A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13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5A4556C1-C318-427B-871D-A73A61B8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1588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62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Présenter les projets avec transparence sur leur maturité</a:t>
            </a:r>
          </a:p>
        </p:txBody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407F351-4FAA-468C-9300-F4A0821D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258300"/>
            <a:ext cx="5543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Support jury - Épreuve E5 | Angoran Moyé Judes-Uriel Stéphanas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DA5DE2C-AE59-47D4-9799-4F171E5D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9258300"/>
            <a:ext cx="62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03 / 10</a:t>
            </a:r>
          </a:p>
        </p:txBody>
      </p:sp>
    </p:spTree>
    <p:extLst>
      <p:ext uri="{BB962C8B-B14F-4D97-AF65-F5344CB8AC3E}">
        <p14:creationId xmlns:p14="http://schemas.microsoft.com/office/powerpoint/2010/main" val="2591667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nt-accent-side">
            <a:extLst xmlns:a="http://schemas.openxmlformats.org/drawingml/2006/main">
              <a:ext uri="{FF2B5EF4-FFF2-40B4-BE49-F238E27FC236}">
                <a16:creationId xmlns:a16="http://schemas.microsoft.com/office/drawing/2014/main" id="{24693419-B3B2-4DB7-A5C5-C1E8ABD7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" name="print-top-rule">
            <a:extLst xmlns:a="http://schemas.openxmlformats.org/drawingml/2006/main">
              <a:ext uri="{FF2B5EF4-FFF2-40B4-BE49-F238E27FC236}">
                <a16:creationId xmlns:a16="http://schemas.microsoft.com/office/drawing/2014/main" id="{DEED3851-A182-4812-91E0-51D6D1BB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1E293B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C5B5D25-3682-4491-95FF-49A83D07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7700"/>
            <a:ext cx="1619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45309"/>
                </a:solidFill>
                <a:latin typeface="Cascadia Code"/>
                <a:ea typeface="Cascadia Code"/>
                <a:cs typeface="Cascadia Code"/>
              </a:defRPr>
            </a:pPr>
            <a:r>
              <a:rPr sz="1350" b="1" i="0">
                <a:solidFill>
                  <a:srgbClr val="B45309"/>
                </a:solidFill>
                <a:latin typeface="Cascadia Code"/>
                <a:ea typeface="Cascadia Code"/>
                <a:cs typeface="Cascadia Code"/>
              </a:rPr>
              <a:t>Présentation E5 - BTS SIO SLAM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6BE186-A5CC-4878-B893-4D99A19E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09650"/>
            <a:ext cx="16192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35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defRPr>
            </a:pPr>
            <a:r>
              <a:rPr sz="435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rPr>
              <a:t>Parcours scolaire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C3582AF-E5E6-4175-9929-3BFA6460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628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 la logique scientifique aux bases du développement applicatif.</a:t>
            </a:r>
          </a:p>
        </p:txBody>
      </p:sp>
      <p:sp>
        <p:nvSpPr>
          <p:cNvPr id="6" name="school-left">
            <a:extLst xmlns:a="http://schemas.openxmlformats.org/drawingml/2006/main">
              <a:ext uri="{FF2B5EF4-FFF2-40B4-BE49-F238E27FC236}">
                <a16:creationId xmlns:a16="http://schemas.microsoft.com/office/drawing/2014/main" id="{B39A58D9-7D7D-441B-A72C-C5277B75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652"/>
            <a:ext cx="7934325" cy="6434938"/>
          </a:xfrm>
          <a:prstGeom xmlns:a="http://schemas.openxmlformats.org/drawingml/2006/main" prst="roundRect">
            <a:avLst>
              <a:gd name="adj" fmla="val 2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school-left-accent">
            <a:extLst xmlns:a="http://schemas.openxmlformats.org/drawingml/2006/main">
              <a:ext uri="{FF2B5EF4-FFF2-40B4-BE49-F238E27FC236}">
                <a16:creationId xmlns:a16="http://schemas.microsoft.com/office/drawing/2014/main" id="{8474C99F-8BB1-4292-83A6-E1E43994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622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8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A40E5F60-E99B-41A7-A408-563DBE4F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670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830F433-A03A-4DA2-A6D6-7600CA9D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990850"/>
            <a:ext cx="6610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500" b="1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Étapes</a:t>
            </a:r>
          </a:p>
        </p:txBody>
      </p:sp>
      <p:sp>
        <p:nvSpPr>
          <p:cNvPr id="1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24E37607-02D5-42D4-A91C-84AA5DF7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1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1B21810A-BC81-4E39-971F-8D5C556A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90900"/>
            <a:ext cx="6991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Baccalauréat scientifique</a:t>
            </a:r>
          </a:p>
        </p:txBody>
      </p:sp>
      <p:sp>
        <p:nvSpPr>
          <p:cNvPr id="1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2AFDFD78-7BFA-42DA-ABD1-67B278BA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3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34A27004-828D-4D73-A39D-E415508E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62400"/>
            <a:ext cx="6991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Découverte autonome de Python</a:t>
            </a:r>
          </a:p>
        </p:txBody>
      </p:sp>
      <p:sp>
        <p:nvSpPr>
          <p:cNvPr id="1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1E8D5E75-4915-4D66-882A-65FFEBF6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5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65F6BF69-3DE4-459D-91C7-14E9B1BB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33900"/>
            <a:ext cx="6991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BTS SIO option SLAM à l’Institut F2I</a:t>
            </a:r>
          </a:p>
        </p:txBody>
      </p:sp>
      <p:sp>
        <p:nvSpPr>
          <p:cNvPr id="16" name="school-right">
            <a:extLst xmlns:a="http://schemas.openxmlformats.org/drawingml/2006/main">
              <a:ext uri="{FF2B5EF4-FFF2-40B4-BE49-F238E27FC236}">
                <a16:creationId xmlns:a16="http://schemas.microsoft.com/office/drawing/2014/main" id="{FB75241B-6721-49E1-A19E-053FB421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652"/>
            <a:ext cx="7934325" cy="6434938"/>
          </a:xfrm>
          <a:prstGeom xmlns:a="http://schemas.openxmlformats.org/drawingml/2006/main" prst="roundRect">
            <a:avLst>
              <a:gd name="adj" fmla="val 2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school-right-accent">
            <a:extLst xmlns:a="http://schemas.openxmlformats.org/drawingml/2006/main">
              <a:ext uri="{FF2B5EF4-FFF2-40B4-BE49-F238E27FC236}">
                <a16:creationId xmlns:a16="http://schemas.microsoft.com/office/drawing/2014/main" id="{651AEBBA-8025-44E4-8B51-B62BEC0D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622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8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1FD02960-BDD9-451A-93D5-7DFBF670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670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6A4BE34-F222-480C-AF6B-44D71820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990850"/>
            <a:ext cx="6610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500" b="1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Méthode travaillée</a:t>
            </a:r>
          </a:p>
        </p:txBody>
      </p:sp>
      <p:sp>
        <p:nvSpPr>
          <p:cNvPr id="2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9E4282F3-16B3-409D-9F8B-9750E2DA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90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1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220CC1F8-A704-4E88-9599-4E0F37F8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90900"/>
            <a:ext cx="6991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Identifier le besoin</a:t>
            </a:r>
          </a:p>
        </p:txBody>
      </p:sp>
      <p:sp>
        <p:nvSpPr>
          <p:cNvPr id="2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D5C84FA4-CFF6-4FDA-8367-9E97F177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62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3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0D5A72BB-46DF-46D0-9429-01C5AAEE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962400"/>
            <a:ext cx="6991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Choisir une solution</a:t>
            </a:r>
          </a:p>
        </p:txBody>
      </p:sp>
      <p:sp>
        <p:nvSpPr>
          <p:cNvPr id="2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6573D517-E75A-4BC2-99C0-28C53808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5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DDAE190D-5C74-4004-A38B-8BEE6C8B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33900"/>
            <a:ext cx="6991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Développer, tester et documenter</a:t>
            </a:r>
          </a:p>
        </p:txBody>
      </p:sp>
      <p:sp>
        <p:nvSpPr>
          <p:cNvPr id="2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552A6404-923F-4DF8-A622-6C5087A8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24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7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0040431A-0F72-4519-8C5D-EC29B32A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24450"/>
            <a:ext cx="6991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Présenter un résultat exploitable</a:t>
            </a:r>
          </a:p>
        </p:txBody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4CC1874-DF40-4B87-A85C-22A29315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258300"/>
            <a:ext cx="5543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Support jury - Épreuve E5 | Angoran Moyé Judes-Uriel Stéphanas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6A014C5-20C9-462B-9311-E01A89AE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9258300"/>
            <a:ext cx="62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18340746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nt-accent-side">
            <a:extLst xmlns:a="http://schemas.openxmlformats.org/drawingml/2006/main">
              <a:ext uri="{FF2B5EF4-FFF2-40B4-BE49-F238E27FC236}">
                <a16:creationId xmlns:a16="http://schemas.microsoft.com/office/drawing/2014/main" id="{A5ABD1DE-44F7-4C68-AB35-A03DAFEC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" name="print-top-rule">
            <a:extLst xmlns:a="http://schemas.openxmlformats.org/drawingml/2006/main">
              <a:ext uri="{FF2B5EF4-FFF2-40B4-BE49-F238E27FC236}">
                <a16:creationId xmlns:a16="http://schemas.microsoft.com/office/drawing/2014/main" id="{E5DE7E33-FE82-44B4-96A1-17407646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1E293B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C773DA8-DE6F-47EE-8D3B-6446ADB3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7700"/>
            <a:ext cx="1619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91B2"/>
                </a:solidFill>
                <a:latin typeface="Cascadia Code"/>
                <a:ea typeface="Cascadia Code"/>
                <a:cs typeface="Cascadia Code"/>
              </a:defRPr>
            </a:pPr>
            <a:r>
              <a:rPr sz="1350" b="1" i="0">
                <a:solidFill>
                  <a:srgbClr val="0891B2"/>
                </a:solidFill>
                <a:latin typeface="Cascadia Code"/>
                <a:ea typeface="Cascadia Code"/>
                <a:cs typeface="Cascadia Code"/>
              </a:rPr>
              <a:t>Présentation E5 - BTS SIO SLAM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B0B53D-2E6C-4283-84F2-0593466B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09650"/>
            <a:ext cx="16192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35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defRPr>
            </a:pPr>
            <a:r>
              <a:rPr sz="435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rPr>
              <a:t>Stages et expériences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DAD5BA9-2BF0-4908-A447-40F7945E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69913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L’apport principal : passer d’un cadre scolaire à un contexte plus concret.</a:t>
            </a:r>
          </a:p>
        </p:txBody>
      </p:sp>
      <p:sp>
        <p:nvSpPr>
          <p:cNvPr id="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C03D445A-0B2A-453F-87DE-8EBEE822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5BD9D2A9-8223-4C38-BA16-7D7F294F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00350"/>
            <a:ext cx="1588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550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A’Numérique : développement web avec React.js et Next.js</a:t>
            </a:r>
          </a:p>
        </p:txBody>
      </p:sp>
      <p:sp>
        <p:nvSpPr>
          <p:cNvPr id="8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E351C56D-8802-4378-98B1-72AC2757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6CE674FE-366F-4DAC-8AF1-8EC82C73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1588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550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Travail sur les fonctionnalités front-end et la lisibilité du code</a:t>
            </a:r>
          </a:p>
        </p:txBody>
      </p:sp>
      <p:sp>
        <p:nvSpPr>
          <p:cNvPr id="10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7244528C-A2E2-4797-AA62-083642A2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43DE43E6-C12B-446A-8727-EF700B8B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1588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550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Projet d’agrégation : scraping → stockage → seeding → affichage</a:t>
            </a:r>
          </a:p>
        </p:txBody>
      </p:sp>
      <p:sp>
        <p:nvSpPr>
          <p:cNvPr id="12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F4956B34-99F3-4572-B390-D8891F7B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012DB5FA-06F5-4D6C-8D27-AE2A3EAA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86300"/>
            <a:ext cx="1588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550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Compétence clé : fiabiliser les données entre les environnements</a:t>
            </a:r>
          </a:p>
        </p:txBody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2E49C5C-4D8E-4A93-9384-BF323376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258300"/>
            <a:ext cx="5543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Support jury - Épreuve E5 | Angoran Moyé Judes-Uriel Stéphanas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FBB34E2-9A58-404A-852B-1B6660B7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9258300"/>
            <a:ext cx="62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05 / 10</a:t>
            </a:r>
          </a:p>
        </p:txBody>
      </p:sp>
    </p:spTree>
    <p:extLst>
      <p:ext uri="{BB962C8B-B14F-4D97-AF65-F5344CB8AC3E}">
        <p14:creationId xmlns:p14="http://schemas.microsoft.com/office/powerpoint/2010/main" val="1646683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nt-accent-side">
            <a:extLst xmlns:a="http://schemas.openxmlformats.org/drawingml/2006/main">
              <a:ext uri="{FF2B5EF4-FFF2-40B4-BE49-F238E27FC236}">
                <a16:creationId xmlns:a16="http://schemas.microsoft.com/office/drawing/2014/main" id="{46FCA3E8-751B-4602-AABD-5CC8B76F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2" name="print-top-rule">
            <a:extLst xmlns:a="http://schemas.openxmlformats.org/drawingml/2006/main">
              <a:ext uri="{FF2B5EF4-FFF2-40B4-BE49-F238E27FC236}">
                <a16:creationId xmlns:a16="http://schemas.microsoft.com/office/drawing/2014/main" id="{6F56AF83-8420-4E74-8CBA-BD63FD9D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1E293B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65DCE10-6499-41AA-B5FE-7C6C23BC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7700"/>
            <a:ext cx="1619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47857"/>
                </a:solidFill>
                <a:latin typeface="Cascadia Code"/>
                <a:ea typeface="Cascadia Code"/>
                <a:cs typeface="Cascadia Code"/>
              </a:defRPr>
            </a:pPr>
            <a:r>
              <a:rPr sz="1350" b="1" i="0">
                <a:solidFill>
                  <a:srgbClr val="047857"/>
                </a:solidFill>
                <a:latin typeface="Cascadia Code"/>
                <a:ea typeface="Cascadia Code"/>
                <a:cs typeface="Cascadia Code"/>
              </a:rPr>
              <a:t>Présentation E5 - BTS SIO SLAM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B09134-C824-4A9D-AA0B-283B9E85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09650"/>
            <a:ext cx="16192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35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defRPr>
            </a:pPr>
            <a:r>
              <a:rPr sz="435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rPr>
              <a:t>Projets principaux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1258CB8-7FFE-4607-8E72-48472761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8610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Des projets choisis comme preuves de compétences, avec un niveau de maturité assumé.</a:t>
            </a:r>
          </a:p>
        </p:txBody>
      </p:sp>
      <p:sp>
        <p:nvSpPr>
          <p:cNvPr id="6" name="training-projects">
            <a:extLst xmlns:a="http://schemas.openxmlformats.org/drawingml/2006/main">
              <a:ext uri="{FF2B5EF4-FFF2-40B4-BE49-F238E27FC236}">
                <a16:creationId xmlns:a16="http://schemas.microsoft.com/office/drawing/2014/main" id="{8A48D943-5811-4B08-A811-0B9BEBC8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96692"/>
            <a:ext cx="7934325" cy="6114898"/>
          </a:xfrm>
          <a:prstGeom xmlns:a="http://schemas.openxmlformats.org/drawingml/2006/main" prst="roundRect">
            <a:avLst>
              <a:gd name="adj" fmla="val 24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training-projects-accent">
            <a:extLst xmlns:a="http://schemas.openxmlformats.org/drawingml/2006/main">
              <a:ext uri="{FF2B5EF4-FFF2-40B4-BE49-F238E27FC236}">
                <a16:creationId xmlns:a16="http://schemas.microsoft.com/office/drawing/2014/main" id="{4928E322-BA02-4E83-B77B-0BD44BCA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861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8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60EA1E01-697D-4A39-873B-FDBD7776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DF511EB-4532-4F9D-ADA9-D477C6DB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95650"/>
            <a:ext cx="6610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500" b="1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Formation / BTS</a:t>
            </a:r>
          </a:p>
        </p:txBody>
      </p:sp>
      <p:sp>
        <p:nvSpPr>
          <p:cNvPr id="1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0790B821-80AE-4C5A-B546-8F405D6B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95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11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4C67F0CC-5137-4612-89B5-3E9A33EB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95700"/>
            <a:ext cx="6991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GameConnect : réseau social PHP / MySQL</a:t>
            </a:r>
          </a:p>
        </p:txBody>
      </p:sp>
      <p:sp>
        <p:nvSpPr>
          <p:cNvPr id="1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67F407FC-9673-41AC-8D9C-2F771379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67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13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F2AC7A54-9CED-4A2C-A0EE-7A2F188B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67200"/>
            <a:ext cx="6991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Hash Python : intégrité de fichiers SHA-256</a:t>
            </a:r>
          </a:p>
        </p:txBody>
      </p:sp>
      <p:sp>
        <p:nvSpPr>
          <p:cNvPr id="1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D9546B7D-7037-4935-A1EC-99519908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38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15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69F94132-8E7B-44B9-B44C-1A2276F3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38700"/>
            <a:ext cx="6991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Portfolio : CV, projets, veille et tableau de synthèse</a:t>
            </a:r>
          </a:p>
        </p:txBody>
      </p:sp>
      <p:sp>
        <p:nvSpPr>
          <p:cNvPr id="16" name="personal-projects">
            <a:extLst xmlns:a="http://schemas.openxmlformats.org/drawingml/2006/main">
              <a:ext uri="{FF2B5EF4-FFF2-40B4-BE49-F238E27FC236}">
                <a16:creationId xmlns:a16="http://schemas.microsoft.com/office/drawing/2014/main" id="{48D9E883-B72B-4E38-8C51-AA7CE3FC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796692"/>
            <a:ext cx="7934325" cy="6114898"/>
          </a:xfrm>
          <a:prstGeom xmlns:a="http://schemas.openxmlformats.org/drawingml/2006/main" prst="roundRect">
            <a:avLst>
              <a:gd name="adj" fmla="val 24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personal-projects-accent">
            <a:extLst xmlns:a="http://schemas.openxmlformats.org/drawingml/2006/main">
              <a:ext uri="{FF2B5EF4-FFF2-40B4-BE49-F238E27FC236}">
                <a16:creationId xmlns:a16="http://schemas.microsoft.com/office/drawing/2014/main" id="{9EACB46D-0BC3-4900-922C-22213EB7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861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18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1A0D30E9-D0A8-47F1-8C73-E60A380F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909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1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89B3AD0-0808-4B12-A1A9-6A93969A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295650"/>
            <a:ext cx="6610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500" b="1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Orientation personnelle</a:t>
            </a:r>
          </a:p>
        </p:txBody>
      </p:sp>
      <p:sp>
        <p:nvSpPr>
          <p:cNvPr id="2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2F022DC2-5CC2-4AB5-A940-4A8E63CD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95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21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019CC62C-FB00-4B4D-8CA8-DB64477F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95700"/>
            <a:ext cx="6991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AIAuditOps : gouvernance et audit de systèmes IA</a:t>
            </a:r>
          </a:p>
        </p:txBody>
      </p:sp>
      <p:sp>
        <p:nvSpPr>
          <p:cNvPr id="2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9042BB86-C67D-4C64-A864-E35A1D54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67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23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04CB2E03-88D3-4840-9A60-D9E3C3E6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267200"/>
            <a:ext cx="6991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MailGuardAI : analyse d’emails et niveau de risque</a:t>
            </a:r>
          </a:p>
        </p:txBody>
      </p:sp>
      <p:sp>
        <p:nvSpPr>
          <p:cNvPr id="2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11358699-C95F-420D-9D38-3543069C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38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25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0AD358B7-09F3-4FB8-99CC-6F35164D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838700"/>
            <a:ext cx="6991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Projets IA / données présentés sans les survendre</a:t>
            </a:r>
          </a:p>
        </p:txBody>
      </p:sp>
      <p:sp>
        <p:nvSpPr>
          <p:cNvPr id="2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86610D0-FCB5-4A52-A9A6-9A0ABB82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258300"/>
            <a:ext cx="5543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Support jury - Épreuve E5 | Angoran Moyé Judes-Uriel Stéphanas</a:t>
            </a:r>
          </a:p>
        </p:txBody>
      </p:sp>
      <p:sp>
        <p:nvSpPr>
          <p:cNvPr id="2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E366EF-FE59-4D73-B8AD-DDA914E3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9258300"/>
            <a:ext cx="62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13004293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nt-accent-side">
            <a:extLst xmlns:a="http://schemas.openxmlformats.org/drawingml/2006/main">
              <a:ext uri="{FF2B5EF4-FFF2-40B4-BE49-F238E27FC236}">
                <a16:creationId xmlns:a16="http://schemas.microsoft.com/office/drawing/2014/main" id="{CA902855-57A8-4180-B2DB-43030D72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" name="print-top-rule">
            <a:extLst xmlns:a="http://schemas.openxmlformats.org/drawingml/2006/main">
              <a:ext uri="{FF2B5EF4-FFF2-40B4-BE49-F238E27FC236}">
                <a16:creationId xmlns:a16="http://schemas.microsoft.com/office/drawing/2014/main" id="{C9978ED2-E913-4E80-8046-9773CF50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1E293B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04ADD5C-DF70-4646-9AB6-8DAB6DAB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7700"/>
            <a:ext cx="1619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45309"/>
                </a:solidFill>
                <a:latin typeface="Cascadia Code"/>
                <a:ea typeface="Cascadia Code"/>
                <a:cs typeface="Cascadia Code"/>
              </a:defRPr>
            </a:pPr>
            <a:r>
              <a:rPr sz="1350" b="1" i="0">
                <a:solidFill>
                  <a:srgbClr val="B45309"/>
                </a:solidFill>
                <a:latin typeface="Cascadia Code"/>
                <a:ea typeface="Cascadia Code"/>
                <a:cs typeface="Cascadia Code"/>
              </a:rPr>
              <a:t>Présentation E5 - BTS SIO SLAM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AA44CA-0372-472A-B467-85A5BC1E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09650"/>
            <a:ext cx="16192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35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defRPr>
            </a:pPr>
            <a:r>
              <a:rPr sz="435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rPr>
              <a:t>Certifications et apprentissages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7F53E3F-4DB8-4D29-A528-96DC5CFE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8115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Un complément au portfolio, orienté cybersécurité, développement et IA appliquée.</a:t>
            </a:r>
          </a:p>
        </p:txBody>
      </p:sp>
      <p:sp>
        <p:nvSpPr>
          <p:cNvPr id="6" name="cert-done">
            <a:extLst xmlns:a="http://schemas.openxmlformats.org/drawingml/2006/main">
              <a:ext uri="{FF2B5EF4-FFF2-40B4-BE49-F238E27FC236}">
                <a16:creationId xmlns:a16="http://schemas.microsoft.com/office/drawing/2014/main" id="{08BE88D3-30B4-4CFA-8475-229A8F3C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96692"/>
            <a:ext cx="7140893" cy="6114898"/>
          </a:xfrm>
          <a:prstGeom xmlns:a="http://schemas.openxmlformats.org/drawingml/2006/main" prst="roundRect">
            <a:avLst>
              <a:gd name="adj" fmla="val 24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cert-done-accent">
            <a:extLst xmlns:a="http://schemas.openxmlformats.org/drawingml/2006/main">
              <a:ext uri="{FF2B5EF4-FFF2-40B4-BE49-F238E27FC236}">
                <a16:creationId xmlns:a16="http://schemas.microsoft.com/office/drawing/2014/main" id="{97D0A335-3F93-4A75-B066-4EF32F4B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861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8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A4BCC9DC-8447-49AD-AE95-0724BA89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78F61F3-BC7B-4614-AC7D-EC9BCFD8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95650"/>
            <a:ext cx="581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500" b="1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Validé</a:t>
            </a:r>
          </a:p>
        </p:txBody>
      </p:sp>
      <p:sp>
        <p:nvSpPr>
          <p:cNvPr id="1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81D46638-DC7A-4E8A-B965-08A50BCD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95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1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693DC633-D007-40B6-A8BA-20A45D2D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95700"/>
            <a:ext cx="619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SecNumacadémie - ANSSI</a:t>
            </a:r>
          </a:p>
        </p:txBody>
      </p:sp>
      <p:sp>
        <p:nvSpPr>
          <p:cNvPr id="1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367A23E5-873F-4F1E-8897-6BDD5FC2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3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B0FA38DB-6F9F-443A-B47A-77B5963F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86250"/>
            <a:ext cx="619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OpenClassrooms : bases du langage Python</a:t>
            </a:r>
          </a:p>
        </p:txBody>
      </p:sp>
      <p:sp>
        <p:nvSpPr>
          <p:cNvPr id="14" name="cert-next">
            <a:extLst xmlns:a="http://schemas.openxmlformats.org/drawingml/2006/main">
              <a:ext uri="{FF2B5EF4-FFF2-40B4-BE49-F238E27FC236}">
                <a16:creationId xmlns:a16="http://schemas.microsoft.com/office/drawing/2014/main" id="{56F69814-9339-4786-AEDB-3DFAF7B4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2493" y="2796692"/>
            <a:ext cx="8727758" cy="6114898"/>
          </a:xfrm>
          <a:prstGeom xmlns:a="http://schemas.openxmlformats.org/drawingml/2006/main" prst="roundRect">
            <a:avLst>
              <a:gd name="adj" fmla="val 24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cert-next-accent">
            <a:extLst xmlns:a="http://schemas.openxmlformats.org/drawingml/2006/main">
              <a:ext uri="{FF2B5EF4-FFF2-40B4-BE49-F238E27FC236}">
                <a16:creationId xmlns:a16="http://schemas.microsoft.com/office/drawing/2014/main" id="{27A94838-1EF9-4C88-871B-66588CE7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861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6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86F3E086-2AEE-445B-8122-B27DFBA0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909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18B02D5-8959-4E2D-88B8-DA7F4774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95650"/>
            <a:ext cx="739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500" b="1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Prévu / visé</a:t>
            </a:r>
          </a:p>
        </p:txBody>
      </p:sp>
      <p:sp>
        <p:nvSpPr>
          <p:cNvPr id="18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B75F42A2-715D-493C-BE69-07E5E21B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95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9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A1DE1041-1D6F-4952-896E-27EB6C48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95700"/>
            <a:ext cx="7772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React.js et Next.js</a:t>
            </a:r>
          </a:p>
        </p:txBody>
      </p:sp>
      <p:sp>
        <p:nvSpPr>
          <p:cNvPr id="20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4AEE0B53-D48D-4D59-B1E4-33161277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1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42BEF9BA-C72E-4330-8626-31C14D3D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86250"/>
            <a:ext cx="7772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Fondamentaux cybersécurité</a:t>
            </a:r>
          </a:p>
        </p:txBody>
      </p:sp>
      <p:sp>
        <p:nvSpPr>
          <p:cNvPr id="22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0407E7DC-FA96-4685-BE71-58BE3749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76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3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E2D7C25D-F8B1-47ED-A9C6-EECB6BE3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76800"/>
            <a:ext cx="7772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Docker, cloud et déploiement</a:t>
            </a:r>
          </a:p>
        </p:txBody>
      </p:sp>
      <p:sp>
        <p:nvSpPr>
          <p:cNvPr id="24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D8256ECE-B87A-4513-9A56-DE28E0F9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86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5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555E2ECA-8B0D-4E9F-8421-1E933B38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86400"/>
            <a:ext cx="7772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Intelligence artificielle appliquée</a:t>
            </a:r>
          </a:p>
        </p:txBody>
      </p:sp>
      <p:sp>
        <p:nvSpPr>
          <p:cNvPr id="2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8DA4AA0-25B4-4A59-9163-5E03E77F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258300"/>
            <a:ext cx="5543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Support jury - Épreuve E5 | Angoran Moyé Judes-Uriel Stéphanas</a:t>
            </a:r>
          </a:p>
        </p:txBody>
      </p:sp>
      <p:sp>
        <p:nvSpPr>
          <p:cNvPr id="2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8BEFBAC-B818-4751-A25B-E76CC27D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9258300"/>
            <a:ext cx="62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12485427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nt-accent-side">
            <a:extLst xmlns:a="http://schemas.openxmlformats.org/drawingml/2006/main">
              <a:ext uri="{FF2B5EF4-FFF2-40B4-BE49-F238E27FC236}">
                <a16:creationId xmlns:a16="http://schemas.microsoft.com/office/drawing/2014/main" id="{2FE9EE58-A824-4250-96F9-161618FA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" name="print-top-rule">
            <a:extLst xmlns:a="http://schemas.openxmlformats.org/drawingml/2006/main">
              <a:ext uri="{FF2B5EF4-FFF2-40B4-BE49-F238E27FC236}">
                <a16:creationId xmlns:a16="http://schemas.microsoft.com/office/drawing/2014/main" id="{174B7587-0E2B-466F-9565-ADA2983D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1E293B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AF3EEB6-E73C-4E61-868E-57CEF01F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7700"/>
            <a:ext cx="1619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91B2"/>
                </a:solidFill>
                <a:latin typeface="Cascadia Code"/>
                <a:ea typeface="Cascadia Code"/>
                <a:cs typeface="Cascadia Code"/>
              </a:defRPr>
            </a:pPr>
            <a:r>
              <a:rPr sz="1350" b="1" i="0">
                <a:solidFill>
                  <a:srgbClr val="0891B2"/>
                </a:solidFill>
                <a:latin typeface="Cascadia Code"/>
                <a:ea typeface="Cascadia Code"/>
                <a:cs typeface="Cascadia Code"/>
              </a:rPr>
              <a:t>Présentation E5 - BTS SIO SLAM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08E2F9-9E83-499E-BCE7-2FD0F117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09650"/>
            <a:ext cx="16192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35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defRPr>
            </a:pPr>
            <a:r>
              <a:rPr sz="435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rPr>
              <a:t>Veille technologique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AA80FCC-CDEB-4DDC-A619-4ED47FB1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6305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Thème : l’IA orientée vers la défense des systèmes informatiques.</a:t>
            </a:r>
          </a:p>
        </p:txBody>
      </p:sp>
      <p:sp>
        <p:nvSpPr>
          <p:cNvPr id="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33694C93-ACA9-4EAE-B107-09715D3E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35101F6B-0C1D-4583-9852-028169A3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00350"/>
            <a:ext cx="1588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62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Détection d’anomalies et priorisation des alertes</a:t>
            </a:r>
          </a:p>
        </p:txBody>
      </p:sp>
      <p:sp>
        <p:nvSpPr>
          <p:cNvPr id="8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06286E70-2A07-4C59-9578-83D03F1B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56FEA1ED-05C0-40CD-A60A-57CE3FF1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1588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62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Synthèse d’incidents et aide à l’investigation</a:t>
            </a:r>
          </a:p>
        </p:txBody>
      </p:sp>
      <p:sp>
        <p:nvSpPr>
          <p:cNvPr id="10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FFF5EEB9-7CF1-49EC-A001-F50EDA91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F6D5B5E4-D06A-4FF5-8ACB-22B8B5EA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76700"/>
            <a:ext cx="1588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62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Automatisation utile, mais avec contrôle humain</a:t>
            </a:r>
          </a:p>
        </p:txBody>
      </p:sp>
      <p:sp>
        <p:nvSpPr>
          <p:cNvPr id="12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602CB6B1-6EF4-40A0-AEF6-758B2E28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8958F9CB-A3C9-43BB-906F-CAD3F37C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24400"/>
            <a:ext cx="1588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62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Principe retenu : l’IA assiste, l’humain décide</a:t>
            </a:r>
          </a:p>
        </p:txBody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B30A510-97A4-4535-963C-79F5B0C6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258300"/>
            <a:ext cx="5543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Support jury - Épreuve E5 | Angoran Moyé Judes-Uriel Stéphanas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2D698F8-6D95-4BDC-B88A-7D28C562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9258300"/>
            <a:ext cx="62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08 / 10</a:t>
            </a:r>
          </a:p>
        </p:txBody>
      </p:sp>
    </p:spTree>
    <p:extLst>
      <p:ext uri="{BB962C8B-B14F-4D97-AF65-F5344CB8AC3E}">
        <p14:creationId xmlns:p14="http://schemas.microsoft.com/office/powerpoint/2010/main" val="16798622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nt-accent-side">
            <a:extLst xmlns:a="http://schemas.openxmlformats.org/drawingml/2006/main">
              <a:ext uri="{FF2B5EF4-FFF2-40B4-BE49-F238E27FC236}">
                <a16:creationId xmlns:a16="http://schemas.microsoft.com/office/drawing/2014/main" id="{117F6DB9-ED1D-439A-86B8-C44BBBBF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2" name="print-top-rule">
            <a:extLst xmlns:a="http://schemas.openxmlformats.org/drawingml/2006/main">
              <a:ext uri="{FF2B5EF4-FFF2-40B4-BE49-F238E27FC236}">
                <a16:creationId xmlns:a16="http://schemas.microsoft.com/office/drawing/2014/main" id="{B528C9CD-4D0F-438D-9B59-27FC4A4A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1E293B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F50D94C-1663-416D-ABAB-01357FF3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7700"/>
            <a:ext cx="1619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47857"/>
                </a:solidFill>
                <a:latin typeface="Cascadia Code"/>
                <a:ea typeface="Cascadia Code"/>
                <a:cs typeface="Cascadia Code"/>
              </a:defRPr>
            </a:pPr>
            <a:r>
              <a:rPr sz="1350" b="1" i="0">
                <a:solidFill>
                  <a:srgbClr val="047857"/>
                </a:solidFill>
                <a:latin typeface="Cascadia Code"/>
                <a:ea typeface="Cascadia Code"/>
                <a:cs typeface="Cascadia Code"/>
              </a:rPr>
              <a:t>Présentation E5 - BTS SIO SLAM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A9D6B8-80DA-4244-A932-10D1EDF4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09650"/>
            <a:ext cx="16192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35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defRPr>
            </a:pPr>
            <a:r>
              <a:rPr sz="435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rPr>
              <a:t>Orientation après le BTS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DBC0B8C-D333-416D-894B-AB9E3713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899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Construire une suite logique entre études, professionnalisation et ambition entrepreneuriale.</a:t>
            </a:r>
          </a:p>
        </p:txBody>
      </p:sp>
      <p:sp>
        <p:nvSpPr>
          <p:cNvPr id="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05E26624-E6C0-4B90-9AFB-E7A13178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597F3E9C-3F94-497A-8F18-D8343E02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76500"/>
            <a:ext cx="1588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62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Poursuite visée : Bac+3, Bachelor ou Licence professionnelle</a:t>
            </a:r>
          </a:p>
        </p:txBody>
      </p:sp>
      <p:sp>
        <p:nvSpPr>
          <p:cNvPr id="8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5E48E9A8-CAB3-44A9-BC9E-3E2BD821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95D93CEE-52E2-47B3-85F9-921091B4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1588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62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Axes : full-stack, data / IA, cybersécurité applicative</a:t>
            </a:r>
          </a:p>
        </p:txBody>
      </p:sp>
      <p:sp>
        <p:nvSpPr>
          <p:cNvPr id="10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E8F78814-322F-4ED2-893A-DCA897D6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6C10665C-9734-4C24-BADF-E1488D38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52850"/>
            <a:ext cx="1588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62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Objectif moyen terme : développeur full-stack orienté produit</a:t>
            </a:r>
          </a:p>
        </p:txBody>
      </p:sp>
      <p:sp>
        <p:nvSpPr>
          <p:cNvPr id="12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5689B397-84AA-4867-927D-6E072A46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13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4A262A2A-3958-44C1-834E-F612093C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1588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625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Ambition long terme : monter une startup</a:t>
            </a:r>
          </a:p>
        </p:txBody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13CC0EB-D49D-431E-B1FB-C99FECF0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258300"/>
            <a:ext cx="5543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Support jury - Épreuve E5 | Angoran Moyé Judes-Uriel Stéphanas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2E9E394-C899-427D-BA88-19278100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9258300"/>
            <a:ext cx="62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11649663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nt-accent-side">
            <a:extLst xmlns:a="http://schemas.openxmlformats.org/drawingml/2006/main">
              <a:ext uri="{FF2B5EF4-FFF2-40B4-BE49-F238E27FC236}">
                <a16:creationId xmlns:a16="http://schemas.microsoft.com/office/drawing/2014/main" id="{E5E30BE9-7376-410D-B18B-22D0465B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" name="print-top-rule">
            <a:extLst xmlns:a="http://schemas.openxmlformats.org/drawingml/2006/main">
              <a:ext uri="{FF2B5EF4-FFF2-40B4-BE49-F238E27FC236}">
                <a16:creationId xmlns:a16="http://schemas.microsoft.com/office/drawing/2014/main" id="{8D82F7A1-FF7E-41C4-BFBB-2EFC5724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1E293B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FA192E6-16D1-4978-9CBF-EDEF07B2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7700"/>
            <a:ext cx="1619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91B2"/>
                </a:solidFill>
                <a:latin typeface="Cascadia Code"/>
                <a:ea typeface="Cascadia Code"/>
                <a:cs typeface="Cascadia Code"/>
              </a:defRPr>
            </a:pPr>
            <a:r>
              <a:rPr sz="1350" b="1" i="0">
                <a:solidFill>
                  <a:srgbClr val="0891B2"/>
                </a:solidFill>
                <a:latin typeface="Cascadia Code"/>
                <a:ea typeface="Cascadia Code"/>
                <a:cs typeface="Cascadia Code"/>
              </a:rPr>
              <a:t>Présentation E5 - BTS SIO SLAM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8D2510-DB2C-41F9-B10E-0997B53F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09650"/>
            <a:ext cx="16192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35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defRPr>
            </a:pPr>
            <a:r>
              <a:rPr sz="435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rPr>
              <a:t>Conclusion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FCC7F2A-B18D-41B1-AAC5-70ECA103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4991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Ce que le portfolio doit faire ressortir devant le jury.</a:t>
            </a:r>
          </a:p>
        </p:txBody>
      </p:sp>
      <p:sp>
        <p:nvSpPr>
          <p:cNvPr id="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3431CED8-7E0F-440B-B355-EF44185A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66D1C943-0A77-4535-9070-771D45DF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15887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700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Une progression construite par les projets</a:t>
            </a:r>
          </a:p>
        </p:txBody>
      </p:sp>
      <p:sp>
        <p:nvSpPr>
          <p:cNvPr id="8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9B766ABF-F686-4204-A6F2-83FADEC6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54F6D720-BB6D-4E74-A076-A94645FA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72050"/>
            <a:ext cx="15887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700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Des compétences techniques en consolidation</a:t>
            </a:r>
          </a:p>
        </p:txBody>
      </p:sp>
      <p:sp>
        <p:nvSpPr>
          <p:cNvPr id="10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D3170D0A-D094-41B7-AAA7-C5C4609A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3938CA4B-9CA2-4AD4-8F86-13455C8B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19750"/>
            <a:ext cx="15887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700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Une orientation claire : données, IA et sécurité</a:t>
            </a:r>
          </a:p>
        </p:txBody>
      </p:sp>
      <p:sp>
        <p:nvSpPr>
          <p:cNvPr id="12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F1D27C37-0C3B-4879-90A7-E51146F5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67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8DBBB75A-5E39-48C3-B493-2ABF6687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67450"/>
            <a:ext cx="15887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2700" b="0" i="0">
                <a:solidFill>
                  <a:srgbClr val="1E293B"/>
                </a:solidFill>
                <a:latin typeface="Aptos"/>
                <a:ea typeface="Aptos"/>
                <a:cs typeface="Aptos"/>
              </a:rPr>
              <a:t>Une finalité : créer des solutions utiles et solides</a:t>
            </a:r>
          </a:p>
        </p:txBody>
      </p:sp>
      <p:sp>
        <p:nvSpPr>
          <p:cNvPr id="14" name="thanks">
            <a:extLst xmlns:a="http://schemas.openxmlformats.org/drawingml/2006/main">
              <a:ext uri="{FF2B5EF4-FFF2-40B4-BE49-F238E27FC236}">
                <a16:creationId xmlns:a16="http://schemas.microsoft.com/office/drawing/2014/main" id="{9CC6AD16-CE64-4AF0-838E-F534CD91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10400"/>
            <a:ext cx="1619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 i="0">
                <a:solidFill>
                  <a:srgbClr val="0F172A"/>
                </a:solidFill>
                <a:latin typeface="Bahnschrift"/>
                <a:ea typeface="Bahnschrift"/>
                <a:cs typeface="Bahnschrift"/>
              </a:rPr>
              <a:t>Merci pour votre attention.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6BE2980-4995-45B1-B9CE-46F01066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258300"/>
            <a:ext cx="5543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Support jury - Épreuve E5 | Angoran Moyé Judes-Uriel Stéphanas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100BDF7-B69A-463A-B48E-40554C1D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9258300"/>
            <a:ext cx="62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defRPr>
            </a:pPr>
            <a:r>
              <a:rPr sz="1200" b="0" i="0">
                <a:solidFill>
                  <a:srgbClr val="64748B"/>
                </a:solidFill>
                <a:latin typeface="Cascadia Code"/>
                <a:ea typeface="Cascadia Code"/>
                <a:cs typeface="Cascadia Code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619995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2026-05-03T15:12:48.2580000Z</dcterms:created>
  <dcterms:modified xsi:type="dcterms:W3CDTF">2026-05-03T15:12:48.2590000Z</dcterms:modified>
</coreProperties>
</file>